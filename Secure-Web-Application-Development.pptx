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ela Gothic One"/>
      <p:regular r:id="rId17"/>
    </p:embeddedFont>
    <p:embeddedFont>
      <p:font typeface="Dela Gothic One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4" y="583525"/>
            <a:ext cx="5296733" cy="7062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1831538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Secure Web Application Development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44709" y="3154323"/>
            <a:ext cx="7627382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Enterprise-Grade Security Implementation &amp; Threat Mitigation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244709" y="4062055"/>
            <a:ext cx="76273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Mohammad Al-Shawabkeh &amp; Ahmad Al-Sarhan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Supervised by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Dr.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Madallah Al-Majali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44709" y="4881801"/>
            <a:ext cx="7627382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documents the design and development of a production-grade secure web application, built from the ground up following the Secure Software Development Life Cycle (S-SDLC). Every architectural decision — from password storage to session management — was driven by a single guiding principle: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is not a feature, it is a foundation.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709" y="503158"/>
            <a:ext cx="562891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Executive Summary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92574" y="1355765"/>
            <a:ext cx="6632377" cy="6370677"/>
          </a:xfrm>
          <a:prstGeom prst="roundRect">
            <a:avLst>
              <a:gd name="adj" fmla="val 2042"/>
            </a:avLst>
          </a:prstGeom>
          <a:solidFill>
            <a:srgbClr val="510C04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3192" y="1527929"/>
            <a:ext cx="245828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Project Objective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73192" y="1997273"/>
            <a:ext cx="6271141" cy="1129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and develop a secure web application that strictly adheres to the Secure Software Development Life Cycle (S-SDLC), ensuring security is embedded at every phase — from requirements gathering through deployment.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3192" y="3298627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Core Philosophy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73192" y="3767971"/>
            <a:ext cx="6271141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Defence in Depth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combining </a:t>
            </a:r>
            <a:pPr algn="l"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proactive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threat modelling via the STRIDE framework with </a:t>
            </a:r>
            <a:pPr algn="l"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reactive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automated security scanning using Bandit SAST. No single control is relied upon in isolation.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3205" y="1527929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Deliverables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543205" y="2018824"/>
            <a:ext cx="6372106" cy="1723192"/>
          </a:xfrm>
          <a:prstGeom prst="roundRect">
            <a:avLst>
              <a:gd name="adj" fmla="val 6368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20345" y="2018824"/>
            <a:ext cx="91440" cy="1723192"/>
          </a:xfrm>
          <a:prstGeom prst="roundRect">
            <a:avLst>
              <a:gd name="adj" fmla="val 82995"/>
            </a:avLst>
          </a:prstGeom>
          <a:solidFill>
            <a:srgbClr val="C91313"/>
          </a:solidFill>
          <a:ln/>
        </p:spPr>
      </p:sp>
      <p:sp>
        <p:nvSpPr>
          <p:cNvPr id="11" name="Text 9"/>
          <p:cNvSpPr/>
          <p:nvPr/>
        </p:nvSpPr>
        <p:spPr>
          <a:xfrm>
            <a:off x="7815263" y="2222302"/>
            <a:ext cx="341173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Encrypted Data Storage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815263" y="2691646"/>
            <a:ext cx="5896570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Sensitive user data and secret notes are protected at rest using AES-256-CBC with cryptographically secure, per-record Initialisation Vectors.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43205" y="3914180"/>
            <a:ext cx="6372106" cy="1723192"/>
          </a:xfrm>
          <a:prstGeom prst="roundRect">
            <a:avLst>
              <a:gd name="adj" fmla="val 6368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20345" y="3914180"/>
            <a:ext cx="91440" cy="1723192"/>
          </a:xfrm>
          <a:prstGeom prst="roundRect">
            <a:avLst>
              <a:gd name="adj" fmla="val 82995"/>
            </a:avLst>
          </a:prstGeom>
          <a:solidFill>
            <a:srgbClr val="C91313"/>
          </a:solidFill>
          <a:ln/>
        </p:spPr>
      </p:sp>
      <p:sp>
        <p:nvSpPr>
          <p:cNvPr id="15" name="Text 13"/>
          <p:cNvSpPr/>
          <p:nvPr/>
        </p:nvSpPr>
        <p:spPr>
          <a:xfrm>
            <a:off x="7815263" y="4117657"/>
            <a:ext cx="318218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Secure Authentication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815263" y="4587002"/>
            <a:ext cx="5896570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Password credentials are never stored in plain text. bcrypt with per-user unique salts ensures breach-resistant credential storage and secure comparison.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43205" y="5809536"/>
            <a:ext cx="6372106" cy="1723192"/>
          </a:xfrm>
          <a:prstGeom prst="roundRect">
            <a:avLst>
              <a:gd name="adj" fmla="val 6368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20345" y="5809536"/>
            <a:ext cx="91440" cy="1723192"/>
          </a:xfrm>
          <a:prstGeom prst="roundRect">
            <a:avLst>
              <a:gd name="adj" fmla="val 82995"/>
            </a:avLst>
          </a:prstGeom>
          <a:solidFill>
            <a:srgbClr val="C91313"/>
          </a:solidFill>
          <a:ln/>
        </p:spPr>
      </p:sp>
      <p:sp>
        <p:nvSpPr>
          <p:cNvPr id="19" name="Text 17"/>
          <p:cNvSpPr/>
          <p:nvPr/>
        </p:nvSpPr>
        <p:spPr>
          <a:xfrm>
            <a:off x="7815263" y="6013013"/>
            <a:ext cx="339482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Robust Access Controls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815263" y="6482358"/>
            <a:ext cx="5896570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server-side enforced Role-Based Access Control (RBAC) model strictly separates administrative and standard user privileges, enforcing Least Privilege throughout.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13172"/>
            <a:ext cx="801147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Security Technology Stack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1615797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application is built on a carefully selected set of technologies and libraries, each chosen for their security track record, performance characteristics, and alignment with industry standards. Every component plays a defined role in the overall security architecture.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58309" y="2435543"/>
            <a:ext cx="4244816" cy="2950964"/>
          </a:xfrm>
          <a:prstGeom prst="roundRect">
            <a:avLst>
              <a:gd name="adj" fmla="val 269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5477" y="2632710"/>
            <a:ext cx="260246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FastAPI (Python)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5477" y="3058120"/>
            <a:ext cx="3850481" cy="212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High-performance asynchronous framework providing type-safe request validation, automatic OpenAPI documentation, and structured dependency injection — ideal for enforcing security middleware consistently across all API routes.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192673" y="2435543"/>
            <a:ext cx="4244935" cy="2950964"/>
          </a:xfrm>
          <a:prstGeom prst="roundRect">
            <a:avLst>
              <a:gd name="adj" fmla="val 269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89840" y="2632710"/>
            <a:ext cx="3850600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SQLite + Parameterised Queries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389840" y="3369826"/>
            <a:ext cx="3850600" cy="181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Lightweight relational database paired exclusively with parameterised query structures. Raw string interpolation in SQL is entirely prohibited across the codebase, eliminating the primary attack surface for SQL Injection.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27156" y="2435543"/>
            <a:ext cx="4244816" cy="2950964"/>
          </a:xfrm>
          <a:prstGeom prst="roundRect">
            <a:avLst>
              <a:gd name="adj" fmla="val 269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4323" y="2632710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bcrypt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4323" y="3058120"/>
            <a:ext cx="3850481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Industry-standard adaptive hashing algorithm for password storage. The work factor can be increased over time as hardware improves, ensuring long-term resistance to brute-force attacks.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58309" y="5576054"/>
            <a:ext cx="6461998" cy="2040374"/>
          </a:xfrm>
          <a:prstGeom prst="roundRect">
            <a:avLst>
              <a:gd name="adj" fmla="val 3902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5477" y="5773222"/>
            <a:ext cx="367176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cryptography (AES-256)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5477" y="6198632"/>
            <a:ext cx="6067663" cy="122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cryptography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library provides access to AES-256-CBC primitives for encrypting sensitive data at rest. Unique IVs per encryption operation guarantee that identical plaintexts produce distinct ciphertexts.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09855" y="5576054"/>
            <a:ext cx="6462117" cy="2040374"/>
          </a:xfrm>
          <a:prstGeom prst="roundRect">
            <a:avLst>
              <a:gd name="adj" fmla="val 3902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022" y="577322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Bandit (SAST)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07022" y="6198632"/>
            <a:ext cx="606778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Static Application Security Testing tool that analyses Python source code for known vulnerability patterns — including hardcoded secrets, weak cryptographic usage, and insecure function calls — integrated into the development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122" y="459105"/>
            <a:ext cx="8305800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Authentication &amp; Password Security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168122" y="1235393"/>
            <a:ext cx="503372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Problem: Plain-Text Credential Storage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68122" y="1594604"/>
            <a:ext cx="5966341" cy="105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Storing passwords in plain text — or using reversible encoding such as Base64 or MD5 — leads to </a:t>
            </a:r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account compromise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moment a database is exfiltrated. A single breach exposes every user credential simultaneously, with no recovery path. Even "fast" cryptographic hashes like SHA-256 are unsuitable for passwords, as they can be attacked at billions of hashes per second using modern GPUs and rainbow tables.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68122" y="2765108"/>
            <a:ext cx="462355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Solution: bcrypt with Per-User Salts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8122" y="3124319"/>
            <a:ext cx="5966341" cy="1273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bcrypt is an adaptive, slow hashing function specifically designed for password storage. Each hash is generated with a </a:t>
            </a:r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unique, cryptographically random salt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meaning identical passwords produce entirely different hashes — neutralising rainbow table attacks entirely. The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checkpw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function performs a </a:t>
            </a:r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constant-time comparison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prevent timing-based side-channel attacks that could otherwise leak whether a guess is "close" to the correct value.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03319" y="1235393"/>
            <a:ext cx="25198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Code Implementation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03319" y="1609130"/>
            <a:ext cx="5966341" cy="4937522"/>
          </a:xfrm>
          <a:prstGeom prst="roundRect">
            <a:avLst>
              <a:gd name="adj" fmla="val 1260"/>
            </a:avLst>
          </a:prstGeom>
          <a:solidFill>
            <a:srgbClr val="171717"/>
          </a:solidFill>
          <a:ln/>
        </p:spPr>
      </p:sp>
      <p:sp>
        <p:nvSpPr>
          <p:cNvPr id="9" name="Shape 7"/>
          <p:cNvSpPr/>
          <p:nvPr/>
        </p:nvSpPr>
        <p:spPr>
          <a:xfrm>
            <a:off x="7495937" y="1609130"/>
            <a:ext cx="5981105" cy="4937522"/>
          </a:xfrm>
          <a:prstGeom prst="roundRect">
            <a:avLst>
              <a:gd name="adj" fmla="val 450"/>
            </a:avLst>
          </a:prstGeom>
          <a:solidFill>
            <a:srgbClr val="171717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757124"/>
            <a:ext cx="5611058" cy="4641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(Rubric: Password Hashing Implementation)
import bcrypt
def hash_password(password: str) -&gt; str:
    # Generate a unique salt and hash
    salt = bcrypt.gensalt()
    hashed = bcrypt.hashpw(
        password.encode('utf-8'), salt
    )
    return hashed.decode('utf-8')
def verify_password(
    plain_password: str,
    hashed_password: str
) -&gt; bool:
    # Constant-time comparison prevents
    # timing-based side-channel attacks
    return bcrypt.checkpw(
        plain_password.encode('utf-8'),
        hashed_password.encode('utf-8')
    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03319" y="6676787"/>
            <a:ext cx="5966341" cy="963454"/>
          </a:xfrm>
          <a:prstGeom prst="roundRect">
            <a:avLst>
              <a:gd name="adj" fmla="val 6457"/>
            </a:avLst>
          </a:prstGeom>
          <a:solidFill>
            <a:srgbClr val="02234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313" y="6884551"/>
            <a:ext cx="185023" cy="14799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84331" y="6829306"/>
            <a:ext cx="5337334" cy="632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bcrypt's adaptive work factor means the hashing cost can be increased as computing power grows, future-proofing credential security without changing the API.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131" y="460653"/>
            <a:ext cx="8241983" cy="496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Role-Based Access Control (RBAC)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45131" y="1258372"/>
            <a:ext cx="2570678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Code Implementation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1045131" y="1642229"/>
            <a:ext cx="6085761" cy="4862512"/>
          </a:xfrm>
          <a:prstGeom prst="roundRect">
            <a:avLst>
              <a:gd name="adj" fmla="val 1305"/>
            </a:avLst>
          </a:prstGeom>
          <a:solidFill>
            <a:srgbClr val="171717"/>
          </a:solidFill>
          <a:ln/>
        </p:spPr>
      </p:sp>
      <p:sp>
        <p:nvSpPr>
          <p:cNvPr id="5" name="Shape 3"/>
          <p:cNvSpPr/>
          <p:nvPr/>
        </p:nvSpPr>
        <p:spPr>
          <a:xfrm>
            <a:off x="1037630" y="1642229"/>
            <a:ext cx="6100763" cy="4862512"/>
          </a:xfrm>
          <a:prstGeom prst="roundRect">
            <a:avLst>
              <a:gd name="adj" fmla="val 466"/>
            </a:avLst>
          </a:prstGeom>
          <a:solidFill>
            <a:srgbClr val="171717"/>
          </a:solidFill>
          <a:ln/>
        </p:spPr>
      </p:sp>
      <p:sp>
        <p:nvSpPr>
          <p:cNvPr id="6" name="Text 4"/>
          <p:cNvSpPr/>
          <p:nvPr/>
        </p:nvSpPr>
        <p:spPr>
          <a:xfrm>
            <a:off x="1226463" y="1793200"/>
            <a:ext cx="5723096" cy="456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(Rubric: RBAC &amp; Authorisation)
from fastapi import HTTPException, status
def require_admin(current_user: User):
    # Server-side role validation —
    # never trust client-supplied claims
    if current_user.role != "admin":
        raise HTTPException(
            status_code=status.HTTP_403_FORBIDDEN,
            detail="Administrative privileges required"
        )
    return True
# Applied as a FastAPI dependency:
@app.delete("/admin/users/{user_id}")
async def delete_user(
    user_id: int,
    _: bool = Depends(require_admin)
):
    ...
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45131" y="6640116"/>
            <a:ext cx="6085761" cy="993338"/>
          </a:xfrm>
          <a:prstGeom prst="roundRect">
            <a:avLst>
              <a:gd name="adj" fmla="val 6388"/>
            </a:avLst>
          </a:prstGeom>
          <a:solidFill>
            <a:srgbClr val="4B3F0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102" y="6856690"/>
            <a:ext cx="188833" cy="15097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5906" y="6798231"/>
            <a:ext cx="5444014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authorisation checks are enforced server-side. Client-side role checks (e.g., hiding UI buttons) are UX conveniences only and provide zero security guarantee.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98187" y="1137999"/>
            <a:ext cx="6303169" cy="6630829"/>
          </a:xfrm>
          <a:prstGeom prst="roundRect">
            <a:avLst>
              <a:gd name="adj" fmla="val 1726"/>
            </a:avLst>
          </a:prstGeom>
          <a:solidFill>
            <a:srgbClr val="510C04">
              <a:alpha val="9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549158" y="1258372"/>
            <a:ext cx="4620220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Mechanism: Principle of Least Privilege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49158" y="1627227"/>
            <a:ext cx="60012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RBAC model enforces a strict binary separation between </a:t>
            </a:r>
            <a:pPr algn="l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</a:t>
            </a:r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</a:t>
            </a:r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roles. Every protected endpoint declares its required privilege level as a FastAPI dependency, ensuring the check is applied consistently and cannot be accidentally omitted by a developer.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49158" y="2616279"/>
            <a:ext cx="4569500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Server-Side Enforcement Matters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49158" y="2985135"/>
            <a:ext cx="6001226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Client-side role validation — such as hiding an "Admin" button in the UI — is trivially bypassed using browser developer tools or direct API calls. By binding authorisation to the dependency injection system, the server </a:t>
            </a:r>
            <a:pPr algn="l"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</a:t>
            </a:r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validates the authenticated user's role before executing any privileged operation, regardless of how the request was formed.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158" y="4191357"/>
            <a:ext cx="3826550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Elevation of Privilege Prevention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549158" y="4560213"/>
            <a:ext cx="60012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Attempts to access admin-protected endpoints without the correct role result in an immediate </a:t>
            </a:r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E5E5"/>
                </a:solidFill>
                <a:highlight>
                  <a:srgbClr val="5E191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 403 Forbidden</a:t>
            </a:r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response. The system logs the failed authorisation attempt as a security event, providing an auditable trail of privilege escalation attempts for incident response.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267" y="515183"/>
            <a:ext cx="9982914" cy="516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Encryption at Rest — AES-256-CBC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99267" y="1291471"/>
            <a:ext cx="13031748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Protecting sensitive "Secret Notes" stored in the database from unauthorised access — whether through a compromised database file, a backup leak, or an insider threat — requires encryption at the storage layer itself. Even if an attacker gains direct access to the SQLite file, encrypted records are computationally infeasible to read without the key.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9267" y="2026920"/>
            <a:ext cx="3298627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Standard &amp; Design Choices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9267" y="2431256"/>
            <a:ext cx="6324362" cy="1206937"/>
          </a:xfrm>
          <a:prstGeom prst="roundRect">
            <a:avLst>
              <a:gd name="adj" fmla="val 9091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6407" y="2431256"/>
            <a:ext cx="91440" cy="1206937"/>
          </a:xfrm>
          <a:prstGeom prst="roundRect">
            <a:avLst>
              <a:gd name="adj" fmla="val 72111"/>
            </a:avLst>
          </a:prstGeom>
          <a:solidFill>
            <a:srgbClr val="C91313"/>
          </a:solidFill>
          <a:ln/>
        </p:spPr>
      </p:sp>
      <p:sp>
        <p:nvSpPr>
          <p:cNvPr id="7" name="Text 5"/>
          <p:cNvSpPr/>
          <p:nvPr/>
        </p:nvSpPr>
        <p:spPr>
          <a:xfrm>
            <a:off x="1047631" y="2611041"/>
            <a:ext cx="2282547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AES-256 Key Size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7631" y="2999065"/>
            <a:ext cx="5896213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256-bit keys provide a security margin well beyond current and foreseeable computational attacks, compliant with NIST SP 800-131A.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267" y="3768090"/>
            <a:ext cx="6324362" cy="1444228"/>
          </a:xfrm>
          <a:prstGeom prst="roundRect">
            <a:avLst>
              <a:gd name="adj" fmla="val 7598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6407" y="3768090"/>
            <a:ext cx="91440" cy="1444228"/>
          </a:xfrm>
          <a:prstGeom prst="roundRect">
            <a:avLst>
              <a:gd name="adj" fmla="val 72111"/>
            </a:avLst>
          </a:prstGeom>
          <a:solidFill>
            <a:srgbClr val="C91313"/>
          </a:solidFill>
          <a:ln/>
        </p:spPr>
      </p:sp>
      <p:sp>
        <p:nvSpPr>
          <p:cNvPr id="11" name="Text 9"/>
          <p:cNvSpPr/>
          <p:nvPr/>
        </p:nvSpPr>
        <p:spPr>
          <a:xfrm>
            <a:off x="1047631" y="3947874"/>
            <a:ext cx="3215402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CBC Mode with Unique IVs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7631" y="4335899"/>
            <a:ext cx="5896213" cy="696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encryption operation generates a fresh,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os.urandom(16)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-sourced Initialisation Vector, ensuring ciphertext indistinguishability even for duplicate plaintexts.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9267" y="5342215"/>
            <a:ext cx="6324362" cy="1436608"/>
          </a:xfrm>
          <a:prstGeom prst="roundRect">
            <a:avLst>
              <a:gd name="adj" fmla="val 7638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6407" y="5342215"/>
            <a:ext cx="91440" cy="1436608"/>
          </a:xfrm>
          <a:prstGeom prst="roundRect">
            <a:avLst>
              <a:gd name="adj" fmla="val 72111"/>
            </a:avLst>
          </a:prstGeom>
          <a:solidFill>
            <a:srgbClr val="C91313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631" y="5522000"/>
            <a:ext cx="2526863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IV Storage Strategy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7631" y="5910024"/>
            <a:ext cx="5896213" cy="689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IV is prepended to the ciphertext before storage. During decryption, the first 16 bytes are extracted as the IV, followed by the encrypted payload — keeping data self-contained.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14153" y="2026920"/>
            <a:ext cx="2670691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Code Implementation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14153" y="2431256"/>
            <a:ext cx="6324362" cy="5136952"/>
          </a:xfrm>
          <a:prstGeom prst="roundRect">
            <a:avLst>
              <a:gd name="adj" fmla="val 1284"/>
            </a:avLst>
          </a:prstGeom>
          <a:solidFill>
            <a:srgbClr val="171717"/>
          </a:solidFill>
          <a:ln/>
        </p:spPr>
      </p:sp>
      <p:sp>
        <p:nvSpPr>
          <p:cNvPr id="19" name="Shape 17"/>
          <p:cNvSpPr/>
          <p:nvPr/>
        </p:nvSpPr>
        <p:spPr>
          <a:xfrm>
            <a:off x="7506414" y="2431256"/>
            <a:ext cx="6339840" cy="5136952"/>
          </a:xfrm>
          <a:prstGeom prst="roundRect">
            <a:avLst>
              <a:gd name="adj" fmla="val 458"/>
            </a:avLst>
          </a:prstGeom>
          <a:solidFill>
            <a:srgbClr val="171717"/>
          </a:solidFill>
          <a:ln/>
        </p:spPr>
      </p:sp>
      <p:sp>
        <p:nvSpPr>
          <p:cNvPr id="20" name="Text 18"/>
          <p:cNvSpPr/>
          <p:nvPr/>
        </p:nvSpPr>
        <p:spPr>
          <a:xfrm>
            <a:off x="7702629" y="2588181"/>
            <a:ext cx="5947410" cy="4823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49E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(Rubric: Advanced Encryption Implementation)
from cryptography.hazmat.primitives.ciphers import (
 Cipher, algorithms, modes
)
import os
def encrypt_data(plain_text: str, key: bytes) -&gt; bytes:
 # Cryptographically secure IV per operation
 iv = os.urandom(16)
 cipher = Cipher(
 algorithms.AES(key), modes.CBC(iv)
 )
 encryptor = cipher.encryptor()
 # Apply PKCS7 padding before encryption
 encrypted = (
 encryptor.update(padded_data)
 + encryptor.finalize()
 )
 # Prepend IV for self-contained storage
 return iv + encrypted
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122" y="459105"/>
            <a:ext cx="9086493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Session Management &amp; XSS Protection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1061442" y="1119783"/>
            <a:ext cx="6179701" cy="6650593"/>
          </a:xfrm>
          <a:prstGeom prst="roundRect">
            <a:avLst>
              <a:gd name="adj" fmla="val 1726"/>
            </a:avLst>
          </a:prstGeom>
          <a:solidFill>
            <a:srgbClr val="510C04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09437" y="1235393"/>
            <a:ext cx="285702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Session Cookie Security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09437" y="1594604"/>
            <a:ext cx="5883712" cy="632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tokens are transmitted exclusively via HTTP cookies configured with three critical security attributes that together close the most common web session attack vectors: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209437" y="2331601"/>
            <a:ext cx="5883712" cy="1557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1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HttpOnly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Prevents JavaScript from reading the cookie value, neutralising session hijacking via Cross-Site Scripting (XSS) injection.</a:t>
            </a:r>
            <a:endParaRPr lang="en-US" sz="11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1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SameSite=Strict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Ensures the cookie is never sent on cross-origin requests, effectively preventing Cross-Site Request Forgery (CSRF) attacks without requiring a separate CSRF token.</a:t>
            </a:r>
            <a:endParaRPr lang="en-US" sz="11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1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Secure=True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Restricts cookie transmission to HTTPS connections only, preventing interception via man-in-the-middle attacks on unencrypted channels.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09437" y="4005024"/>
            <a:ext cx="40880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Input Sanitisation &amp; XSS Mitigation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9437" y="4364236"/>
            <a:ext cx="5883712" cy="64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user-supplied strings are passed through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highlight>
                  <a:srgbClr val="5E191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html.escape()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before being rendered in any response. This converts potentially dangerous characters 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highlight>
                  <a:srgbClr val="5E191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 &gt; " ' &amp;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 into their HTML entity equivalents, rendering injected scripts inert.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03319" y="1235393"/>
            <a:ext cx="25198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Code Implementation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03319" y="1609130"/>
            <a:ext cx="5966341" cy="4937522"/>
          </a:xfrm>
          <a:prstGeom prst="roundRect">
            <a:avLst>
              <a:gd name="adj" fmla="val 1260"/>
            </a:avLst>
          </a:prstGeom>
          <a:solidFill>
            <a:srgbClr val="171717"/>
          </a:solidFill>
          <a:ln/>
        </p:spPr>
      </p:sp>
      <p:sp>
        <p:nvSpPr>
          <p:cNvPr id="11" name="Shape 9"/>
          <p:cNvSpPr/>
          <p:nvPr/>
        </p:nvSpPr>
        <p:spPr>
          <a:xfrm>
            <a:off x="7495937" y="1609130"/>
            <a:ext cx="5981105" cy="4937522"/>
          </a:xfrm>
          <a:prstGeom prst="roundRect">
            <a:avLst>
              <a:gd name="adj" fmla="val 450"/>
            </a:avLst>
          </a:prstGeom>
          <a:solidFill>
            <a:srgbClr val="171717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1757124"/>
            <a:ext cx="5611058" cy="4641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(Rubric: Session &amp; Input Security)
from fastapi import Response
import html
@app.post("/login")
async def login(response: Response, ...):
    # Secure cookie with all three
    # protective attributes applied
    response.set_cookie(
        key="session_id",
        value=sid,
        httponly=True,    # Block JS access
        samesite="strict", # Prevent CSRF
        secure=True        # HTTPS only
    )
    return {"status": "authenticated"}
def sanitize_input(user_str: str) -&gt; str:
    # Escape HTML special characters
    # to neutralise XSS injection
    return html.escape(user_str)
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03319" y="6676787"/>
            <a:ext cx="5966341" cy="963454"/>
          </a:xfrm>
          <a:prstGeom prst="roundRect">
            <a:avLst>
              <a:gd name="adj" fmla="val 6457"/>
            </a:avLst>
          </a:prstGeom>
          <a:solidFill>
            <a:srgbClr val="183A1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313" y="6884551"/>
            <a:ext cx="185023" cy="14799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84331" y="6829306"/>
            <a:ext cx="5337334" cy="632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combination of HttpOnly, SameSite=Strict, and Secure cookie attributes addresses OWASP A07:2021 — Identification and Authentication Failures directly.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922" y="590907"/>
            <a:ext cx="9703356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STRIDE Threat Modelling Analysis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0922" y="1508641"/>
            <a:ext cx="13208556" cy="55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STRIDE framework was applied systematically to every trust boundary and data flow within the application architecture. Each of the six threat categories was evaluated, and a corresponding security control was implemented and verified before the control was considered mitigated.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0922" y="2247067"/>
            <a:ext cx="6520934" cy="1589246"/>
          </a:xfrm>
          <a:prstGeom prst="roundRect">
            <a:avLst>
              <a:gd name="adj" fmla="val 469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83" y="2432328"/>
            <a:ext cx="2338507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Spoofing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83" y="2824520"/>
            <a:ext cx="6150412" cy="82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Threat: an attacker impersonates a legitimate user or service. </a:t>
            </a:r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Mitigation: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Secure session tokens with cryptographically random session IDs; bcrypt-hashed credential verification prevents forged authentication.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98425" y="2247067"/>
            <a:ext cx="6521053" cy="1589246"/>
          </a:xfrm>
          <a:prstGeom prst="roundRect">
            <a:avLst>
              <a:gd name="adj" fmla="val 469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3686" y="2432328"/>
            <a:ext cx="2338507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Tampering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3686" y="2824520"/>
            <a:ext cx="6150531" cy="82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Threat: unauthorised modification of data in transit or at rest. </a:t>
            </a:r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Mitigation: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AES-256-CBC encryption for stored sensitive data; parameterised SQL queries prevent injection-based data manipulation.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0922" y="4002881"/>
            <a:ext cx="6520934" cy="1596866"/>
          </a:xfrm>
          <a:prstGeom prst="roundRect">
            <a:avLst>
              <a:gd name="adj" fmla="val 467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83" y="4188143"/>
            <a:ext cx="2338507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Repudiation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83" y="4580334"/>
            <a:ext cx="6150412" cy="83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Threat: a user denies performing an action. </a:t>
            </a:r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Mitigation: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Comprehensive audit logging via 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log_security_event()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records authenticated actions with timestamps and user identity — creating a non-repudiable audit trail.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98425" y="4002881"/>
            <a:ext cx="6521053" cy="1596866"/>
          </a:xfrm>
          <a:prstGeom prst="roundRect">
            <a:avLst>
              <a:gd name="adj" fmla="val 467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3686" y="4188143"/>
            <a:ext cx="3233618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Information Disclosure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3686" y="4580334"/>
            <a:ext cx="6150531" cy="82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Threat: sensitive data exposed to unauthorised parties. </a:t>
            </a:r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Mitigation: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Generic error messages prevent stack trace leakage; data masking applied to sensitive fields in API responses; encrypted storage for secrets.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0922" y="5766316"/>
            <a:ext cx="6520934" cy="1872377"/>
          </a:xfrm>
          <a:prstGeom prst="roundRect">
            <a:avLst>
              <a:gd name="adj" fmla="val 398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83" y="5951577"/>
            <a:ext cx="2338507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Denial of Service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83" y="6343769"/>
            <a:ext cx="6150412" cy="82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Threat: resource exhaustion causing service unavailability. </a:t>
            </a:r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Mitigation: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FastAPI's async request handling limits thread exhaustion; input size validation prevents payload-based resource attacks.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98425" y="5766316"/>
            <a:ext cx="6521053" cy="1872377"/>
          </a:xfrm>
          <a:prstGeom prst="roundRect">
            <a:avLst>
              <a:gd name="adj" fmla="val 398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3686" y="5951577"/>
            <a:ext cx="2939058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Elevation of Privilege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83686" y="6343769"/>
            <a:ext cx="6150531" cy="1109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Threat: a user gains capabilities beyond their authorised role. </a:t>
            </a:r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Mitigation: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Server-side RBAC validation via dependency injection; all admin endpoints explicitly require the 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require_admin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dependency — no client input can override role assignment.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6978" y="495538"/>
            <a:ext cx="10502027" cy="45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DREAD Risk Assessment &amp; Bandit SAST Results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1536978" y="1208961"/>
            <a:ext cx="2931081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DREAD Risk Quantification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36978" y="1540073"/>
            <a:ext cx="5608439" cy="57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identified threat was scored across five dimensions —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Damage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Reproducibility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Exploitability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Affected Users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Discoverability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on a scale of 0–10, producing a composite risk score out of 50.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536978" y="2234089"/>
            <a:ext cx="731996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318" y="2270641"/>
            <a:ext cx="91440" cy="91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2238" y="2256949"/>
            <a:ext cx="503396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Initial Score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2329934" y="2234089"/>
            <a:ext cx="884634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74" y="2270641"/>
            <a:ext cx="91440" cy="91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05194" y="2256949"/>
            <a:ext cx="65603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Post-Mitigation</a:t>
            </a:r>
            <a:endParaRPr lang="en-US" sz="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978" y="2474833"/>
            <a:ext cx="5608439" cy="20497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36978" y="5489734"/>
            <a:ext cx="5608439" cy="38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Post-mitigation scoring confirmed an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84% overall reduction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aggregate system risk across all assessed threat vectors.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492603" y="1208961"/>
            <a:ext cx="2882741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Bandit SAST Scan Results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492603" y="1540073"/>
            <a:ext cx="5608439" cy="38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full static analysis scan was conducted using the Bandit tool against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1,247 lines of Python source code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covering all modules in the application.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7492603" y="2110621"/>
            <a:ext cx="5608439" cy="459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1"/>
          <p:cNvSpPr/>
          <p:nvPr/>
        </p:nvSpPr>
        <p:spPr>
          <a:xfrm>
            <a:off x="9354741" y="2716173"/>
            <a:ext cx="188416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High-Risk Issues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492603" y="3047286"/>
            <a:ext cx="5608439" cy="38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high-severity findings — including hardcoded credentials, weak cryptographic primitives, and shell injection patterns — all remediated prior to scan.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492603" y="3707249"/>
            <a:ext cx="5608439" cy="459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3600" dirty="0"/>
          </a:p>
        </p:txBody>
      </p:sp>
      <p:sp>
        <p:nvSpPr>
          <p:cNvPr id="19" name="Text 14"/>
          <p:cNvSpPr/>
          <p:nvPr/>
        </p:nvSpPr>
        <p:spPr>
          <a:xfrm>
            <a:off x="9380934" y="4312801"/>
            <a:ext cx="1831777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Medium Issues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492603" y="4643914"/>
            <a:ext cx="5608439" cy="38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medium-severity findings addressed: secure temporary file handling and deterministic key generation patterns reviewed and corrected.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492603" y="5303877"/>
            <a:ext cx="5608439" cy="459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100%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9207579" y="5909429"/>
            <a:ext cx="2178368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OWASP Compliance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492603" y="6240542"/>
            <a:ext cx="5608439" cy="38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Verified compliance with all applicable OWASP Top 10 (2021) categories and full adherence to the project security rubric.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492603" y="6741557"/>
            <a:ext cx="5608439" cy="877372"/>
          </a:xfrm>
          <a:prstGeom prst="roundRect">
            <a:avLst>
              <a:gd name="adj" fmla="val 6665"/>
            </a:avLst>
          </a:prstGeom>
          <a:solidFill>
            <a:srgbClr val="183A1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787" y="6930866"/>
            <a:ext cx="173950" cy="13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944922" y="6878479"/>
            <a:ext cx="5016937" cy="57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zero high-risk finding result represents a clean bill of health against the most commonly exploited vulnerability classes in production Python web applications.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20698"/>
            <a:ext cx="1034819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 &amp; Compliance Summary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1823323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application demonstrates a mature, layered security posture achieved through principled engineering — not afterthought hardening. Every component was designed with its threat model in mind, and every control was verified through both structured analysis and automated tooling.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58309" y="2643068"/>
            <a:ext cx="13113782" cy="3443764"/>
          </a:xfrm>
          <a:prstGeom prst="roundRect">
            <a:avLst>
              <a:gd name="adj" fmla="val 2312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2650688"/>
            <a:ext cx="6549271" cy="1714262"/>
          </a:xfrm>
          <a:prstGeom prst="roundRect">
            <a:avLst>
              <a:gd name="adj" fmla="val 4645"/>
            </a:avLst>
          </a:prstGeom>
          <a:solidFill>
            <a:srgbClr val="740B0B"/>
          </a:solidFill>
          <a:ln/>
        </p:spPr>
      </p:sp>
      <p:sp>
        <p:nvSpPr>
          <p:cNvPr id="6" name="Text 4"/>
          <p:cNvSpPr/>
          <p:nvPr/>
        </p:nvSpPr>
        <p:spPr>
          <a:xfrm>
            <a:off x="955477" y="2840236"/>
            <a:ext cx="371189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Authentication &amp; Hashing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5477" y="3265646"/>
            <a:ext cx="5885855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bcrypt with per-user salts and constant-time comparison. Credential storage is breach-resistant and timing-attack proof.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0" y="2650688"/>
            <a:ext cx="6549271" cy="1714262"/>
          </a:xfrm>
          <a:prstGeom prst="rect">
            <a:avLst/>
          </a:prstGeom>
          <a:solidFill>
            <a:srgbClr val="740B0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650688"/>
            <a:ext cx="22860" cy="1714262"/>
          </a:xfrm>
          <a:prstGeom prst="roundRect">
            <a:avLst>
              <a:gd name="adj" fmla="val 348309"/>
            </a:avLst>
          </a:prstGeom>
          <a:solidFill>
            <a:srgbClr val="8D2424"/>
          </a:solidFill>
          <a:ln/>
        </p:spPr>
      </p:sp>
      <p:sp>
        <p:nvSpPr>
          <p:cNvPr id="10" name="Text 8"/>
          <p:cNvSpPr/>
          <p:nvPr/>
        </p:nvSpPr>
        <p:spPr>
          <a:xfrm>
            <a:off x="7789069" y="2840236"/>
            <a:ext cx="3234452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RBAC &amp; Authorisation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789069" y="3265646"/>
            <a:ext cx="5885855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Server-side enforced role separation via FastAPI dependency injection. Principle of Least Privilege applied throughout.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078266" y="3270885"/>
            <a:ext cx="473869" cy="473869"/>
          </a:xfrm>
          <a:prstGeom prst="roundRect">
            <a:avLst>
              <a:gd name="adj" fmla="val 16803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733" y="3389233"/>
            <a:ext cx="236934" cy="23693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65929" y="4364950"/>
            <a:ext cx="6549271" cy="1714262"/>
          </a:xfrm>
          <a:prstGeom prst="rect">
            <a:avLst/>
          </a:prstGeom>
          <a:solidFill>
            <a:srgbClr val="740B0B"/>
          </a:solidFill>
          <a:ln/>
        </p:spPr>
      </p:sp>
      <p:sp>
        <p:nvSpPr>
          <p:cNvPr id="15" name="Shape 12"/>
          <p:cNvSpPr/>
          <p:nvPr/>
        </p:nvSpPr>
        <p:spPr>
          <a:xfrm>
            <a:off x="765929" y="4364950"/>
            <a:ext cx="6549271" cy="22860"/>
          </a:xfrm>
          <a:prstGeom prst="roundRect">
            <a:avLst>
              <a:gd name="adj" fmla="val 348309"/>
            </a:avLst>
          </a:prstGeom>
          <a:solidFill>
            <a:srgbClr val="8D2424"/>
          </a:solidFill>
          <a:ln/>
        </p:spPr>
      </p:sp>
      <p:sp>
        <p:nvSpPr>
          <p:cNvPr id="16" name="Text 13"/>
          <p:cNvSpPr/>
          <p:nvPr/>
        </p:nvSpPr>
        <p:spPr>
          <a:xfrm>
            <a:off x="955477" y="4554498"/>
            <a:ext cx="3487936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Encryption at Rest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55477" y="4979908"/>
            <a:ext cx="5885855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AES-256-CBC with per-record cryptographically random IVs protecting all sensitive stored data. NIST-compliant key sizing.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315200" y="4364950"/>
            <a:ext cx="6549271" cy="1714262"/>
          </a:xfrm>
          <a:prstGeom prst="rect">
            <a:avLst/>
          </a:prstGeom>
          <a:solidFill>
            <a:srgbClr val="740B0B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4364950"/>
            <a:ext cx="22860" cy="1714262"/>
          </a:xfrm>
          <a:prstGeom prst="roundRect">
            <a:avLst>
              <a:gd name="adj" fmla="val 348309"/>
            </a:avLst>
          </a:prstGeom>
          <a:solidFill>
            <a:srgbClr val="8D2424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0" y="4364950"/>
            <a:ext cx="6549271" cy="22860"/>
          </a:xfrm>
          <a:prstGeom prst="roundRect">
            <a:avLst>
              <a:gd name="adj" fmla="val 348309"/>
            </a:avLst>
          </a:prstGeom>
          <a:solidFill>
            <a:srgbClr val="8D2424"/>
          </a:solidFill>
          <a:ln/>
        </p:spPr>
      </p:sp>
      <p:sp>
        <p:nvSpPr>
          <p:cNvPr id="21" name="Text 18"/>
          <p:cNvSpPr/>
          <p:nvPr/>
        </p:nvSpPr>
        <p:spPr>
          <a:xfrm>
            <a:off x="7789069" y="4554498"/>
            <a:ext cx="427362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Risk Assessment &amp; Scanning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7789069" y="4979908"/>
            <a:ext cx="5885855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STRIDE threat modelling, DREAD quantification (84% risk reduction), and Bandit SAST scan returning zero high-severity findings.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7078266" y="4985147"/>
            <a:ext cx="473869" cy="473869"/>
          </a:xfrm>
          <a:prstGeom prst="roundRect">
            <a:avLst>
              <a:gd name="adj" fmla="val 16803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6733" y="5103495"/>
            <a:ext cx="236934" cy="23693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58309" y="6300073"/>
            <a:ext cx="13113782" cy="1108829"/>
          </a:xfrm>
          <a:prstGeom prst="roundRect">
            <a:avLst>
              <a:gd name="adj" fmla="val 7181"/>
            </a:avLst>
          </a:prstGeom>
          <a:solidFill>
            <a:srgbClr val="183A13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857" y="6584513"/>
            <a:ext cx="236934" cy="1895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74338" y="6537008"/>
            <a:ext cx="1230820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system is verified as production-ready against the OWASP Top 10 (2021) and all S-SDLC rubric requirements. Defence in Depth is fully realised across authentication, authorisation, encryption, and input validation layers.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2026-05-02T17:49:49Z</dcterms:created>
  <dcterms:modified xsi:type="dcterms:W3CDTF">2026-05-02T17:49:49Z</dcterms:modified>
</cp:coreProperties>
</file>